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6002" y="2406814"/>
            <a:ext cx="8666395" cy="1564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57602" y="823207"/>
            <a:ext cx="6543194" cy="854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0303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767" y="1950203"/>
            <a:ext cx="7753984" cy="400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2351" y="804946"/>
            <a:ext cx="3004185" cy="9156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800" b="1" spc="50" dirty="0">
                <a:solidFill>
                  <a:srgbClr val="050505"/>
                </a:solidFill>
                <a:latin typeface="Arial"/>
                <a:cs typeface="Arial"/>
              </a:rPr>
              <a:t>Hashing</a:t>
            </a:r>
            <a:endParaRPr sz="5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9827" y="1770413"/>
            <a:ext cx="5017770" cy="4779010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398780" indent="-369570">
              <a:lnSpc>
                <a:spcPct val="100000"/>
              </a:lnSpc>
              <a:spcBef>
                <a:spcPts val="1750"/>
              </a:spcBef>
              <a:buChar char="•"/>
              <a:tabLst>
                <a:tab pos="398780" algn="l"/>
                <a:tab pos="399415" algn="l"/>
              </a:tabLst>
            </a:pPr>
            <a:r>
              <a:rPr sz="2850" spc="90" dirty="0">
                <a:solidFill>
                  <a:srgbClr val="050505"/>
                </a:solidFill>
                <a:latin typeface="Arial"/>
                <a:cs typeface="Arial"/>
              </a:rPr>
              <a:t>One-</a:t>
            </a:r>
            <a:r>
              <a:rPr sz="2850" spc="95" dirty="0">
                <a:solidFill>
                  <a:srgbClr val="050505"/>
                </a:solidFill>
                <a:latin typeface="Arial"/>
                <a:cs typeface="Arial"/>
              </a:rPr>
              <a:t>way</a:t>
            </a:r>
            <a:r>
              <a:rPr sz="2850" spc="200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55" dirty="0">
                <a:solidFill>
                  <a:srgbClr val="050505"/>
                </a:solidFill>
                <a:latin typeface="Arial"/>
                <a:cs typeface="Arial"/>
              </a:rPr>
              <a:t>process</a:t>
            </a:r>
            <a:endParaRPr sz="2850">
              <a:latin typeface="Arial"/>
              <a:cs typeface="Arial"/>
            </a:endParaRPr>
          </a:p>
          <a:p>
            <a:pPr marL="398145" indent="-368935">
              <a:lnSpc>
                <a:spcPct val="100000"/>
              </a:lnSpc>
              <a:spcBef>
                <a:spcPts val="1650"/>
              </a:spcBef>
              <a:buChar char="•"/>
              <a:tabLst>
                <a:tab pos="398145" algn="l"/>
                <a:tab pos="398780" algn="l"/>
              </a:tabLst>
            </a:pPr>
            <a:r>
              <a:rPr sz="2850" spc="85" dirty="0">
                <a:solidFill>
                  <a:srgbClr val="050505"/>
                </a:solidFill>
                <a:latin typeface="Arial"/>
                <a:cs typeface="Arial"/>
              </a:rPr>
              <a:t>Cannot</a:t>
            </a:r>
            <a:r>
              <a:rPr sz="2850" spc="19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120" dirty="0">
                <a:solidFill>
                  <a:srgbClr val="050505"/>
                </a:solidFill>
                <a:latin typeface="Arial"/>
                <a:cs typeface="Arial"/>
              </a:rPr>
              <a:t>be</a:t>
            </a:r>
            <a:r>
              <a:rPr sz="2850" spc="1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55" dirty="0">
                <a:solidFill>
                  <a:srgbClr val="050505"/>
                </a:solidFill>
                <a:latin typeface="Arial"/>
                <a:cs typeface="Arial"/>
              </a:rPr>
              <a:t>reversed</a:t>
            </a:r>
            <a:endParaRPr sz="2850">
              <a:latin typeface="Arial"/>
              <a:cs typeface="Arial"/>
            </a:endParaRPr>
          </a:p>
          <a:p>
            <a:pPr marL="394335" indent="-372110">
              <a:lnSpc>
                <a:spcPct val="100000"/>
              </a:lnSpc>
              <a:spcBef>
                <a:spcPts val="1755"/>
              </a:spcBef>
              <a:buChar char="•"/>
              <a:tabLst>
                <a:tab pos="394335" algn="l"/>
                <a:tab pos="394970" algn="l"/>
              </a:tabLst>
            </a:pPr>
            <a:r>
              <a:rPr sz="2850" spc="75" dirty="0">
                <a:solidFill>
                  <a:srgbClr val="050505"/>
                </a:solidFill>
                <a:latin typeface="Arial"/>
                <a:cs typeface="Arial"/>
              </a:rPr>
              <a:t>Used</a:t>
            </a:r>
            <a:r>
              <a:rPr sz="2850" spc="-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95" dirty="0">
                <a:solidFill>
                  <a:srgbClr val="050505"/>
                </a:solidFill>
                <a:latin typeface="Arial"/>
                <a:cs typeface="Arial"/>
              </a:rPr>
              <a:t>for</a:t>
            </a:r>
            <a:r>
              <a:rPr sz="2850" spc="6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70" dirty="0">
                <a:solidFill>
                  <a:srgbClr val="050505"/>
                </a:solidFill>
                <a:latin typeface="Arial"/>
                <a:cs typeface="Arial"/>
              </a:rPr>
              <a:t>password</a:t>
            </a:r>
            <a:r>
              <a:rPr sz="2850" spc="100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70" dirty="0">
                <a:solidFill>
                  <a:srgbClr val="050505"/>
                </a:solidFill>
                <a:latin typeface="Arial"/>
                <a:cs typeface="Arial"/>
              </a:rPr>
              <a:t>storage</a:t>
            </a:r>
            <a:endParaRPr sz="2850">
              <a:latin typeface="Arial"/>
              <a:cs typeface="Arial"/>
            </a:endParaRPr>
          </a:p>
          <a:p>
            <a:pPr marL="394335" indent="-372110">
              <a:lnSpc>
                <a:spcPct val="100000"/>
              </a:lnSpc>
              <a:spcBef>
                <a:spcPts val="1760"/>
              </a:spcBef>
              <a:buChar char="•"/>
              <a:tabLst>
                <a:tab pos="394335" algn="l"/>
                <a:tab pos="394970" algn="l"/>
              </a:tabLst>
            </a:pPr>
            <a:r>
              <a:rPr sz="2850" spc="75" dirty="0">
                <a:solidFill>
                  <a:srgbClr val="050505"/>
                </a:solidFill>
                <a:latin typeface="Arial"/>
                <a:cs typeface="Arial"/>
              </a:rPr>
              <a:t>Used</a:t>
            </a:r>
            <a:r>
              <a:rPr sz="2850" spc="-1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95" dirty="0">
                <a:solidFill>
                  <a:srgbClr val="050505"/>
                </a:solidFill>
                <a:latin typeface="Arial"/>
                <a:cs typeface="Arial"/>
              </a:rPr>
              <a:t>for</a:t>
            </a:r>
            <a:r>
              <a:rPr sz="2850" spc="1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105" dirty="0">
                <a:solidFill>
                  <a:srgbClr val="050505"/>
                </a:solidFill>
                <a:latin typeface="Arial"/>
                <a:cs typeface="Arial"/>
              </a:rPr>
              <a:t>integrity</a:t>
            </a:r>
            <a:r>
              <a:rPr sz="2850" spc="155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850" spc="85" dirty="0">
                <a:solidFill>
                  <a:srgbClr val="050505"/>
                </a:solidFill>
                <a:latin typeface="Arial"/>
                <a:cs typeface="Arial"/>
              </a:rPr>
              <a:t>checking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00">
              <a:latin typeface="Arial"/>
              <a:cs typeface="Arial"/>
            </a:endParaRPr>
          </a:p>
          <a:p>
            <a:pPr marL="19050" indent="635">
              <a:lnSpc>
                <a:spcPct val="100000"/>
              </a:lnSpc>
            </a:pPr>
            <a:r>
              <a:rPr sz="2850" spc="-10" dirty="0">
                <a:solidFill>
                  <a:srgbClr val="050505"/>
                </a:solidFill>
                <a:latin typeface="Arial"/>
                <a:cs typeface="Arial"/>
              </a:rPr>
              <a:t>Examples:</a:t>
            </a:r>
            <a:endParaRPr sz="2850">
              <a:latin typeface="Arial"/>
              <a:cs typeface="Arial"/>
            </a:endParaRPr>
          </a:p>
          <a:p>
            <a:pPr marL="12700" marR="3398520" indent="6350">
              <a:lnSpc>
                <a:spcPct val="114999"/>
              </a:lnSpc>
              <a:spcBef>
                <a:spcPts val="1140"/>
              </a:spcBef>
            </a:pPr>
            <a:r>
              <a:rPr sz="2850" spc="130" dirty="0">
                <a:solidFill>
                  <a:srgbClr val="050505"/>
                </a:solidFill>
                <a:latin typeface="Arial"/>
                <a:cs typeface="Arial"/>
              </a:rPr>
              <a:t>SHA-</a:t>
            </a:r>
            <a:r>
              <a:rPr sz="2850" spc="95" dirty="0">
                <a:solidFill>
                  <a:srgbClr val="050505"/>
                </a:solidFill>
                <a:latin typeface="Arial"/>
                <a:cs typeface="Arial"/>
              </a:rPr>
              <a:t>256 SHA-</a:t>
            </a:r>
            <a:r>
              <a:rPr sz="2850" spc="65" dirty="0">
                <a:solidFill>
                  <a:srgbClr val="050505"/>
                </a:solidFill>
                <a:latin typeface="Arial"/>
                <a:cs typeface="Arial"/>
              </a:rPr>
              <a:t>512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04767" y="1950203"/>
          <a:ext cx="7753984" cy="400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8225"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480"/>
                        </a:spcBef>
                      </a:pPr>
                      <a:r>
                        <a:rPr sz="2900" spc="90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Symmetric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314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0">
                        <a:lnSpc>
                          <a:spcPct val="100000"/>
                        </a:lnSpc>
                        <a:spcBef>
                          <a:spcPts val="2480"/>
                        </a:spcBef>
                      </a:pPr>
                      <a:r>
                        <a:rPr sz="2900" spc="90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Asymmetric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3149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9169"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2370"/>
                        </a:spcBef>
                      </a:pPr>
                      <a:r>
                        <a:rPr sz="2650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One</a:t>
                      </a:r>
                      <a:r>
                        <a:rPr sz="2650" spc="50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50" spc="-25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Key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300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50">
                        <a:lnSpc>
                          <a:spcPct val="100000"/>
                        </a:lnSpc>
                        <a:spcBef>
                          <a:spcPts val="2370"/>
                        </a:spcBef>
                      </a:pPr>
                      <a:r>
                        <a:rPr sz="2650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Two</a:t>
                      </a:r>
                      <a:r>
                        <a:rPr sz="2650" spc="-20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 Keys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300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5519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2420"/>
                        </a:spcBef>
                      </a:pPr>
                      <a:r>
                        <a:rPr sz="2650" spc="-20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Fast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307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2420"/>
                        </a:spcBef>
                      </a:pPr>
                      <a:r>
                        <a:rPr sz="2650" spc="-10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Slower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3073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370"/>
                        </a:spcBef>
                      </a:pPr>
                      <a:r>
                        <a:rPr sz="2650" spc="-25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AES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300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2370"/>
                        </a:spcBef>
                      </a:pPr>
                      <a:r>
                        <a:rPr sz="2650" spc="-25" dirty="0">
                          <a:solidFill>
                            <a:srgbClr val="030303"/>
                          </a:solidFill>
                          <a:latin typeface="Arial"/>
                          <a:cs typeface="Arial"/>
                        </a:rPr>
                        <a:t>RSA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300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35"/>
              </a:spcBef>
            </a:pPr>
            <a:r>
              <a:rPr spc="110" dirty="0"/>
              <a:t>Types</a:t>
            </a:r>
            <a:r>
              <a:rPr spc="105" dirty="0"/>
              <a:t> </a:t>
            </a:r>
            <a:r>
              <a:rPr spc="220" dirty="0"/>
              <a:t>of</a:t>
            </a:r>
            <a:r>
              <a:rPr spc="70" dirty="0"/>
              <a:t> </a:t>
            </a:r>
            <a:r>
              <a:rPr spc="155" dirty="0"/>
              <a:t>encryption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5555" marR="5080" indent="-993140">
              <a:lnSpc>
                <a:spcPct val="109700"/>
              </a:lnSpc>
              <a:spcBef>
                <a:spcPts val="95"/>
              </a:spcBef>
            </a:pPr>
            <a:r>
              <a:rPr spc="275" dirty="0"/>
              <a:t>Introduction</a:t>
            </a:r>
            <a:r>
              <a:rPr spc="120" dirty="0"/>
              <a:t> </a:t>
            </a:r>
            <a:r>
              <a:rPr spc="265" dirty="0"/>
              <a:t>to</a:t>
            </a:r>
            <a:r>
              <a:rPr spc="70" dirty="0"/>
              <a:t> </a:t>
            </a:r>
            <a:r>
              <a:rPr spc="160" dirty="0"/>
              <a:t>Cryptography: </a:t>
            </a:r>
            <a:r>
              <a:rPr spc="165" dirty="0"/>
              <a:t>Encryption</a:t>
            </a:r>
            <a:r>
              <a:rPr spc="260" dirty="0"/>
              <a:t> </a:t>
            </a:r>
            <a:r>
              <a:rPr spc="150" dirty="0"/>
              <a:t>and</a:t>
            </a:r>
            <a:r>
              <a:rPr spc="-190" dirty="0"/>
              <a:t> </a:t>
            </a:r>
            <a:r>
              <a:rPr spc="55" dirty="0"/>
              <a:t>Hashing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1746" y="4396916"/>
            <a:ext cx="4212590" cy="4705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solidFill>
                  <a:srgbClr val="030303"/>
                </a:solidFill>
                <a:latin typeface="Arial"/>
                <a:cs typeface="Arial"/>
              </a:rPr>
              <a:t>Done</a:t>
            </a:r>
            <a:r>
              <a:rPr sz="2900" spc="17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800" spc="50" dirty="0">
                <a:solidFill>
                  <a:srgbClr val="030303"/>
                </a:solidFill>
                <a:latin typeface="Arial"/>
                <a:cs typeface="Arial"/>
              </a:rPr>
              <a:t>By:</a:t>
            </a:r>
            <a:r>
              <a:rPr sz="2800" spc="-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900" spc="60" dirty="0">
                <a:solidFill>
                  <a:srgbClr val="030303"/>
                </a:solidFill>
                <a:latin typeface="Arial"/>
                <a:cs typeface="Arial"/>
              </a:rPr>
              <a:t>Subodh</a:t>
            </a:r>
            <a:r>
              <a:rPr sz="2900" spc="17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030303"/>
                </a:solidFill>
                <a:latin typeface="Arial"/>
                <a:cs typeface="Arial"/>
              </a:rPr>
              <a:t>Kumar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</Words>
  <Application>Microsoft Office PowerPoint</Application>
  <PresentationFormat>Benutzerdefiniert</PresentationFormat>
  <Paragraphs>19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Hashing</vt:lpstr>
      <vt:lpstr>Types of encryption</vt:lpstr>
      <vt:lpstr>Introduction to Cryptography: Encryption and Hashing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2026-06-15T11:00:19Z</dcterms:created>
  <dcterms:modified xsi:type="dcterms:W3CDTF">2026-06-15T11:00:21Z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2026-06-15T00:00:00Z</vt:filetime>
  </property>
  <property fmtid="{D5CDD505-2E9C-101B-9397-08002B2CF9AE}" pid="3" name="LastSaved">
    <vt:filetime>2026-06-15T00:00:00Z</vt:filetime>
  </property>
</Properties>
</file>